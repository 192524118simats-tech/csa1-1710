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59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08247-F542-596F-CF46-6C9B9E87C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26E15-F185-B518-A11B-99ADD400C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54F16-0B76-6C59-C834-5E20993EC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8FEF-4064-2F60-D25F-082BD545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FB09-5809-5646-2C69-5E65D024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38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38C0-FB80-7FFD-B5CD-BAE8E5D3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9A999-C567-40EA-3328-B16A5657E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F694F-F53E-FCD3-2DFF-EF7E7439F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00F95-3AB4-8018-49FF-C883B8CF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5FF5B-0E0D-BB72-8AED-19E6DF6B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41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E726-64A3-61B5-3581-A61F4F47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56923-6CE4-CBE6-E0BD-4E4ED0F9E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456FA-A7C0-45E8-BCC9-2CEACC9B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ACBF8-9B4F-C809-7128-6D386B0C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59BF4-B033-D5E5-E339-3F0BFF63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80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D4ECA-9A61-8922-A469-63EFFDE0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204A-9771-6378-CC4A-6CC189FECA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6A992-6DF2-6D06-24C4-C7D3D60F7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C354D-6511-2CA0-046A-FA656CAA9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202A8-22AA-97B9-866C-4CE529AB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E40A8-14D0-EBDC-8422-D4123B188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433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52DA-E663-9239-8DE5-0691A058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25FC8-D5AE-1198-D715-C23FF007F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D7A0C-2AA6-F841-00D2-305F15F2E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D88F7-5002-A19F-8558-107EA45BD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D0EF6-FE2B-5B46-0B2D-236779542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D44AF-5E65-B78E-F0B0-96319FF5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21D102-E8A9-0FAB-AE65-3977F459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695068-BABA-9E56-D739-545D346A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7CDC-49EE-BA39-4339-70C3106D4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C29815-19CF-5183-F081-6BF40B9B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1F7F5-8256-346C-2784-B7CCA35D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5D5B5-5B54-0D30-B385-D4F99564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61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F551C-4BFD-0D76-AACC-73BBA775F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74D76-BCBD-5A71-3414-A1F5E3A2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2EBC2-4E5D-8EC5-A5ED-5C616DF9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85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066F-D59C-B308-E20A-73CAF77D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AEC4-1575-8D3F-A49E-2B5D8C84D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61485-86FB-0717-C04F-551676E1B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DA2BA-E29E-C5E6-8AD9-4BA99A5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B9AE2-4BA4-13E8-B7B4-C6607AA9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4C54E-9583-E0BB-BB7C-569568730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21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A1EBB-6DEF-D395-2537-DC1332A5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307BF0-7DDF-4105-2D61-65D57893B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E0BC1-FE7D-F69D-6B70-8001D3D4E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0ACE2-FF6F-7F35-9FB7-C42FE9B0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5D97D-AB34-42F4-21D0-2CF7F809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49460-6E84-AF41-5838-5B3A975D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0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EBE5-035E-457E-021B-21901FE7B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55014-A8A4-E6FA-8F6B-D4388989F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3A7EB-DC1B-1A00-DB99-38A509C2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A74BB-D8D8-92B1-7CE4-851E54AA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68644-E59C-97F8-6D2F-387686ABF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36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FDC75-F5D9-141B-6CF2-00B97363B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08A92-1725-E608-830E-08DDA57BB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4A323-7994-E287-464C-57D08449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48B60-DDC7-BB00-6E2F-941FE098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89A41-CA88-E3FC-0C14-F3AEF987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372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D18D8-0248-2850-5A54-4AE964C2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47648-B58D-74C6-C03B-96560E4A0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5D8F6-9165-84F8-5109-E116AEA25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0714E-C5A7-4818-AADA-E20A5305C4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D8F76-8275-79DD-0AC0-EF93CFEE1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84D4E-ED5D-F08D-3E67-72A55C4B4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8E378-2AD0-4908-943B-F19F1536F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47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3401648-8917-31F4-FAF9-17260606E0BF}"/>
              </a:ext>
            </a:extLst>
          </p:cNvPr>
          <p:cNvSpPr/>
          <p:nvPr/>
        </p:nvSpPr>
        <p:spPr>
          <a:xfrm>
            <a:off x="1925112" y="2083346"/>
            <a:ext cx="834177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Real-Time Emotion Detection Systems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23884-557A-E810-48C1-12460D15059A}"/>
              </a:ext>
            </a:extLst>
          </p:cNvPr>
          <p:cNvSpPr txBox="1"/>
          <p:nvPr/>
        </p:nvSpPr>
        <p:spPr>
          <a:xfrm>
            <a:off x="2075466" y="3079978"/>
            <a:ext cx="8041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1710 – ARTIFICIAL INTELLIGENCE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93910-DBAF-57E5-19C1-40E703AC86AA}"/>
              </a:ext>
            </a:extLst>
          </p:cNvPr>
          <p:cNvSpPr txBox="1"/>
          <p:nvPr/>
        </p:nvSpPr>
        <p:spPr>
          <a:xfrm>
            <a:off x="9238269" y="5461262"/>
            <a:ext cx="2752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AKSHAYA(192524118)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598D8F-2761-D81C-F377-9C12CF3D053B}"/>
              </a:ext>
            </a:extLst>
          </p:cNvPr>
          <p:cNvSpPr txBox="1"/>
          <p:nvPr/>
        </p:nvSpPr>
        <p:spPr>
          <a:xfrm>
            <a:off x="593889" y="5153408"/>
            <a:ext cx="3205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NAGARAJAN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project for engineering students saveetha | PPTX">
            <a:extLst>
              <a:ext uri="{FF2B5EF4-FFF2-40B4-BE49-F238E27FC236}">
                <a16:creationId xmlns:a16="http://schemas.microsoft.com/office/drawing/2014/main" id="{1FBC0376-E30C-56D1-0A69-3184E4B27E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916"/>
          <a:stretch>
            <a:fillRect/>
          </a:stretch>
        </p:blipFill>
        <p:spPr>
          <a:xfrm>
            <a:off x="2939200" y="630506"/>
            <a:ext cx="6299069" cy="10169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1D60AC-E63C-4852-61D3-66F393B84F2E}"/>
              </a:ext>
            </a:extLst>
          </p:cNvPr>
          <p:cNvSpPr txBox="1"/>
          <p:nvPr/>
        </p:nvSpPr>
        <p:spPr>
          <a:xfrm>
            <a:off x="4760537" y="3757194"/>
            <a:ext cx="333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TECHNICAL 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777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12472A-ECF9-F683-F0B5-AAE6855C13D7}"/>
              </a:ext>
            </a:extLst>
          </p:cNvPr>
          <p:cNvSpPr/>
          <p:nvPr/>
        </p:nvSpPr>
        <p:spPr>
          <a:xfrm>
            <a:off x="658502" y="64874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What is Real-Time Emotion Detection?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43255B-E61E-E518-B3B4-19E24460B923}"/>
              </a:ext>
            </a:extLst>
          </p:cNvPr>
          <p:cNvSpPr/>
          <p:nvPr/>
        </p:nvSpPr>
        <p:spPr>
          <a:xfrm>
            <a:off x="658502" y="1242425"/>
            <a:ext cx="6423392" cy="45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An AI system that automatically identifies human emotions by analyzing facial expressions, voice, or behavioral signals </a:t>
            </a: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as they occur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detection happens in real-time during active interaction, not after the fact.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443AE0-B963-B3E9-6D5F-3582E716AA07}"/>
              </a:ext>
            </a:extLst>
          </p:cNvPr>
          <p:cNvSpPr/>
          <p:nvPr/>
        </p:nvSpPr>
        <p:spPr>
          <a:xfrm>
            <a:off x="658502" y="2350541"/>
            <a:ext cx="69587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Flow in 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15900C81-02E2-7C7A-18AE-AF45D0307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81" y="2635894"/>
            <a:ext cx="6877374" cy="314761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824CEEE-F446-50FC-89AA-7D9F2A3C7591}"/>
              </a:ext>
            </a:extLst>
          </p:cNvPr>
          <p:cNvSpPr/>
          <p:nvPr/>
        </p:nvSpPr>
        <p:spPr>
          <a:xfrm>
            <a:off x="5965211" y="4911683"/>
            <a:ext cx="1291171" cy="49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Trigger Response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303E87E-8A98-420B-77E8-1392A6B43C0F}"/>
              </a:ext>
            </a:extLst>
          </p:cNvPr>
          <p:cNvSpPr/>
          <p:nvPr/>
        </p:nvSpPr>
        <p:spPr>
          <a:xfrm>
            <a:off x="4337981" y="4911683"/>
            <a:ext cx="1291171" cy="49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Identify Emotion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A35BA17-3769-CC1E-057B-A04707F92F06}"/>
              </a:ext>
            </a:extLst>
          </p:cNvPr>
          <p:cNvSpPr/>
          <p:nvPr/>
        </p:nvSpPr>
        <p:spPr>
          <a:xfrm>
            <a:off x="2719596" y="5036050"/>
            <a:ext cx="1291171" cy="2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AI Analysis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68107A3-94DF-CBDA-7AE0-D7BFFE841C2A}"/>
              </a:ext>
            </a:extLst>
          </p:cNvPr>
          <p:cNvSpPr/>
          <p:nvPr/>
        </p:nvSpPr>
        <p:spPr>
          <a:xfrm>
            <a:off x="1065836" y="4911683"/>
            <a:ext cx="1291171" cy="49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Camera Capture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FD46642-4725-A509-A21A-4CEF7FF00D93}"/>
              </a:ext>
            </a:extLst>
          </p:cNvPr>
          <p:cNvSpPr/>
          <p:nvPr/>
        </p:nvSpPr>
        <p:spPr>
          <a:xfrm>
            <a:off x="7926193" y="1239787"/>
            <a:ext cx="360730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Core Emotions Detected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77FD0D1-BD4B-98DB-6E4F-E7533EF5381D}"/>
              </a:ext>
            </a:extLst>
          </p:cNvPr>
          <p:cNvSpPr/>
          <p:nvPr/>
        </p:nvSpPr>
        <p:spPr>
          <a:xfrm>
            <a:off x="7926193" y="1525141"/>
            <a:ext cx="3607305" cy="712887"/>
          </a:xfrm>
          <a:prstGeom prst="roundRect">
            <a:avLst>
              <a:gd name="adj" fmla="val 730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3FB2BB9-5DA3-17BD-5A50-87D338FFBEC7}"/>
              </a:ext>
            </a:extLst>
          </p:cNvPr>
          <p:cNvSpPr/>
          <p:nvPr/>
        </p:nvSpPr>
        <p:spPr>
          <a:xfrm>
            <a:off x="8062913" y="1661864"/>
            <a:ext cx="333386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😀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Happy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182D241-AFD4-640D-4036-4892474D1C48}"/>
              </a:ext>
            </a:extLst>
          </p:cNvPr>
          <p:cNvSpPr/>
          <p:nvPr/>
        </p:nvSpPr>
        <p:spPr>
          <a:xfrm>
            <a:off x="8062913" y="1936998"/>
            <a:ext cx="333386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Positive engagement and satisfaction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BA6C209-D023-77B8-E799-CD30F6840C8A}"/>
              </a:ext>
            </a:extLst>
          </p:cNvPr>
          <p:cNvSpPr/>
          <p:nvPr/>
        </p:nvSpPr>
        <p:spPr>
          <a:xfrm>
            <a:off x="7926193" y="2319387"/>
            <a:ext cx="3607305" cy="712887"/>
          </a:xfrm>
          <a:prstGeom prst="roundRect">
            <a:avLst>
              <a:gd name="adj" fmla="val 730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B70CE4A-0D4A-AD50-1A21-56C20B563BB8}"/>
              </a:ext>
            </a:extLst>
          </p:cNvPr>
          <p:cNvSpPr/>
          <p:nvPr/>
        </p:nvSpPr>
        <p:spPr>
          <a:xfrm>
            <a:off x="8062913" y="2456110"/>
            <a:ext cx="333386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😢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Sad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3537BF3-72F4-BCB2-4B92-F3876B671D3A}"/>
              </a:ext>
            </a:extLst>
          </p:cNvPr>
          <p:cNvSpPr/>
          <p:nvPr/>
        </p:nvSpPr>
        <p:spPr>
          <a:xfrm>
            <a:off x="8062913" y="2731244"/>
            <a:ext cx="333386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Disappointment or distress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EEC0095-523A-9BA6-2A5D-982BB5E84DBF}"/>
              </a:ext>
            </a:extLst>
          </p:cNvPr>
          <p:cNvSpPr/>
          <p:nvPr/>
        </p:nvSpPr>
        <p:spPr>
          <a:xfrm>
            <a:off x="7926193" y="3113633"/>
            <a:ext cx="3607305" cy="712887"/>
          </a:xfrm>
          <a:prstGeom prst="roundRect">
            <a:avLst>
              <a:gd name="adj" fmla="val 730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2EC802F-B0B9-FE94-FF50-C642C4124474}"/>
              </a:ext>
            </a:extLst>
          </p:cNvPr>
          <p:cNvSpPr/>
          <p:nvPr/>
        </p:nvSpPr>
        <p:spPr>
          <a:xfrm>
            <a:off x="8062913" y="3250356"/>
            <a:ext cx="333386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😠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Angry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A04A4CB-5778-139C-101A-73EC89702C06}"/>
              </a:ext>
            </a:extLst>
          </p:cNvPr>
          <p:cNvSpPr/>
          <p:nvPr/>
        </p:nvSpPr>
        <p:spPr>
          <a:xfrm>
            <a:off x="8062913" y="3525490"/>
            <a:ext cx="333386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Frustration or hostility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C5706DD1-62D1-90F9-909B-0E39BFBC96A5}"/>
              </a:ext>
            </a:extLst>
          </p:cNvPr>
          <p:cNvSpPr/>
          <p:nvPr/>
        </p:nvSpPr>
        <p:spPr>
          <a:xfrm>
            <a:off x="7926193" y="3907879"/>
            <a:ext cx="3607305" cy="712887"/>
          </a:xfrm>
          <a:prstGeom prst="roundRect">
            <a:avLst>
              <a:gd name="adj" fmla="val 730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090800C-8CA1-3C61-D05D-296EB498E439}"/>
              </a:ext>
            </a:extLst>
          </p:cNvPr>
          <p:cNvSpPr/>
          <p:nvPr/>
        </p:nvSpPr>
        <p:spPr>
          <a:xfrm>
            <a:off x="8062913" y="4044602"/>
            <a:ext cx="333386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😨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Fear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5FA87A3-CF2C-88C2-56C8-DC97D22B07A9}"/>
              </a:ext>
            </a:extLst>
          </p:cNvPr>
          <p:cNvSpPr/>
          <p:nvPr/>
        </p:nvSpPr>
        <p:spPr>
          <a:xfrm>
            <a:off x="8062913" y="4319736"/>
            <a:ext cx="333386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Anxiety or concern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04B76CA-6022-718A-A999-7FCA85DFF498}"/>
              </a:ext>
            </a:extLst>
          </p:cNvPr>
          <p:cNvSpPr/>
          <p:nvPr/>
        </p:nvSpPr>
        <p:spPr>
          <a:xfrm>
            <a:off x="7926193" y="4702125"/>
            <a:ext cx="3607305" cy="712887"/>
          </a:xfrm>
          <a:prstGeom prst="roundRect">
            <a:avLst>
              <a:gd name="adj" fmla="val 730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D227353-17C2-FAE9-1F06-77601A4C7BC4}"/>
              </a:ext>
            </a:extLst>
          </p:cNvPr>
          <p:cNvSpPr/>
          <p:nvPr/>
        </p:nvSpPr>
        <p:spPr>
          <a:xfrm>
            <a:off x="8062913" y="4838848"/>
            <a:ext cx="333386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😲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Surprise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4DB294D-5A25-6DF4-597A-2B1F36EFDE76}"/>
              </a:ext>
            </a:extLst>
          </p:cNvPr>
          <p:cNvSpPr/>
          <p:nvPr/>
        </p:nvSpPr>
        <p:spPr>
          <a:xfrm>
            <a:off x="8062913" y="5113982"/>
            <a:ext cx="333386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Unexpected reactions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F9A83DD8-A72A-AFCD-75AE-B63880E2419C}"/>
              </a:ext>
            </a:extLst>
          </p:cNvPr>
          <p:cNvSpPr/>
          <p:nvPr/>
        </p:nvSpPr>
        <p:spPr>
          <a:xfrm>
            <a:off x="7926193" y="5496371"/>
            <a:ext cx="3607305" cy="712887"/>
          </a:xfrm>
          <a:prstGeom prst="roundRect">
            <a:avLst>
              <a:gd name="adj" fmla="val 730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43731C6-F0C6-A81A-AF25-3AD8D75F27FB}"/>
              </a:ext>
            </a:extLst>
          </p:cNvPr>
          <p:cNvSpPr/>
          <p:nvPr/>
        </p:nvSpPr>
        <p:spPr>
          <a:xfrm>
            <a:off x="8062913" y="5633094"/>
            <a:ext cx="333386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😐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Neutral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AB6F789-FC56-4A68-591B-77B39B8BBBC9}"/>
              </a:ext>
            </a:extLst>
          </p:cNvPr>
          <p:cNvSpPr/>
          <p:nvPr/>
        </p:nvSpPr>
        <p:spPr>
          <a:xfrm>
            <a:off x="8062913" y="5908228"/>
            <a:ext cx="333386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Baseline or no strong emotion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907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2F23B-FAEA-FF35-5767-4BEAFE52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18ADEA-BFFA-1E27-D2B2-CF4F9F1FA865}"/>
              </a:ext>
            </a:extLst>
          </p:cNvPr>
          <p:cNvSpPr/>
          <p:nvPr/>
        </p:nvSpPr>
        <p:spPr>
          <a:xfrm>
            <a:off x="658502" y="60860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How Real-Time Emotion Detection Works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CF8A3361-716D-072B-FBA8-6927BB901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2" y="2554784"/>
            <a:ext cx="6928470" cy="259992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330B6AD-1B5F-1AA6-52E6-F1B671D4D3A5}"/>
              </a:ext>
            </a:extLst>
          </p:cNvPr>
          <p:cNvSpPr/>
          <p:nvPr/>
        </p:nvSpPr>
        <p:spPr>
          <a:xfrm>
            <a:off x="6256626" y="4523555"/>
            <a:ext cx="1045014" cy="20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Classification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24A6CC-07C9-7DDD-F1EE-22FC893D9364}"/>
              </a:ext>
            </a:extLst>
          </p:cNvPr>
          <p:cNvSpPr/>
          <p:nvPr/>
        </p:nvSpPr>
        <p:spPr>
          <a:xfrm>
            <a:off x="4939623" y="4422898"/>
            <a:ext cx="1045014" cy="40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Feature Extraction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E385B9-CEE6-E926-0DC5-680D121E63CD}"/>
              </a:ext>
            </a:extLst>
          </p:cNvPr>
          <p:cNvSpPr/>
          <p:nvPr/>
        </p:nvSpPr>
        <p:spPr>
          <a:xfrm>
            <a:off x="3629777" y="4422898"/>
            <a:ext cx="1045013" cy="40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Preprocessing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399E174-333E-7319-FBDB-2A9451C90C92}"/>
              </a:ext>
            </a:extLst>
          </p:cNvPr>
          <p:cNvSpPr/>
          <p:nvPr/>
        </p:nvSpPr>
        <p:spPr>
          <a:xfrm>
            <a:off x="2319931" y="4422898"/>
            <a:ext cx="1045014" cy="40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Face Detection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73FCCFE-4BA7-BA04-C717-3F1FDF3A0849}"/>
              </a:ext>
            </a:extLst>
          </p:cNvPr>
          <p:cNvSpPr/>
          <p:nvPr/>
        </p:nvSpPr>
        <p:spPr>
          <a:xfrm>
            <a:off x="981455" y="4523555"/>
            <a:ext cx="1045014" cy="20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Input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8779C2B-B852-0281-0A1B-21DC59742347}"/>
              </a:ext>
            </a:extLst>
          </p:cNvPr>
          <p:cNvSpPr/>
          <p:nvPr/>
        </p:nvSpPr>
        <p:spPr>
          <a:xfrm>
            <a:off x="7982448" y="1443335"/>
            <a:ext cx="355104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Core Technologies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F5DAC68F-9FED-7102-3BEA-AFE6C27B0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2177" y="1848644"/>
            <a:ext cx="239210" cy="23921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2E840D81-62AF-327D-5554-C1212EEDFA19}"/>
              </a:ext>
            </a:extLst>
          </p:cNvPr>
          <p:cNvSpPr/>
          <p:nvPr/>
        </p:nvSpPr>
        <p:spPr>
          <a:xfrm>
            <a:off x="8500655" y="1843782"/>
            <a:ext cx="30328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Computer Vision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724DA25-59F2-E08C-D0FC-E26E441B663D}"/>
              </a:ext>
            </a:extLst>
          </p:cNvPr>
          <p:cNvSpPr/>
          <p:nvPr/>
        </p:nvSpPr>
        <p:spPr>
          <a:xfrm>
            <a:off x="8500655" y="2227461"/>
            <a:ext cx="303284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Image analysis and interpretation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B010996A-6EDF-95B2-5278-C8CDAFE701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2177" y="2736552"/>
            <a:ext cx="239210" cy="239216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A01D0CCF-B77D-5D61-F40C-3A7C22BDD53C}"/>
              </a:ext>
            </a:extLst>
          </p:cNvPr>
          <p:cNvSpPr/>
          <p:nvPr/>
        </p:nvSpPr>
        <p:spPr>
          <a:xfrm>
            <a:off x="8500655" y="2731691"/>
            <a:ext cx="30328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CNN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18875C5-FEE3-4FD3-22C3-D7A2F071FD38}"/>
              </a:ext>
            </a:extLst>
          </p:cNvPr>
          <p:cNvSpPr/>
          <p:nvPr/>
        </p:nvSpPr>
        <p:spPr>
          <a:xfrm>
            <a:off x="8500655" y="3115370"/>
            <a:ext cx="303284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Convolutional Neural Networks for pattern recognition in images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3F228B02-8E08-22B5-9A51-7794929034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2177" y="3859609"/>
            <a:ext cx="239210" cy="239216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1412C769-DB0C-E78E-17E6-FB14E81B1FE8}"/>
              </a:ext>
            </a:extLst>
          </p:cNvPr>
          <p:cNvSpPr/>
          <p:nvPr/>
        </p:nvSpPr>
        <p:spPr>
          <a:xfrm>
            <a:off x="8500655" y="3854748"/>
            <a:ext cx="30328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Deep Learning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3DD15B72-E38D-6912-4549-44A226962254}"/>
              </a:ext>
            </a:extLst>
          </p:cNvPr>
          <p:cNvSpPr/>
          <p:nvPr/>
        </p:nvSpPr>
        <p:spPr>
          <a:xfrm>
            <a:off x="8500655" y="4238427"/>
            <a:ext cx="303284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Training models on large emotion datasets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6F30410C-4E28-CF02-D39C-72DC6E86EC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2177" y="4747518"/>
            <a:ext cx="239210" cy="239216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981D8C87-BB0F-520C-214B-2BF1AAFE759C}"/>
              </a:ext>
            </a:extLst>
          </p:cNvPr>
          <p:cNvSpPr/>
          <p:nvPr/>
        </p:nvSpPr>
        <p:spPr>
          <a:xfrm>
            <a:off x="8500655" y="4742656"/>
            <a:ext cx="30328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OpenCV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168AB1C4-B7C1-2027-D71F-8DD4E3D18435}"/>
              </a:ext>
            </a:extLst>
          </p:cNvPr>
          <p:cNvSpPr/>
          <p:nvPr/>
        </p:nvSpPr>
        <p:spPr>
          <a:xfrm>
            <a:off x="8500655" y="5126335"/>
            <a:ext cx="303284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Real-time video processing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5">
            <a:extLst>
              <a:ext uri="{FF2B5EF4-FFF2-40B4-BE49-F238E27FC236}">
                <a16:creationId xmlns:a16="http://schemas.microsoft.com/office/drawing/2014/main" id="{0E0E786C-68D1-050B-F5C5-789E56A321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2177" y="5635427"/>
            <a:ext cx="239210" cy="239216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5F270428-6A79-F882-5E14-A8A3DB05D711}"/>
              </a:ext>
            </a:extLst>
          </p:cNvPr>
          <p:cNvSpPr/>
          <p:nvPr/>
        </p:nvSpPr>
        <p:spPr>
          <a:xfrm>
            <a:off x="8500655" y="5630565"/>
            <a:ext cx="30328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Machine Learning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EEBF39B0-191E-BE1D-3413-CF8096172F7C}"/>
              </a:ext>
            </a:extLst>
          </p:cNvPr>
          <p:cNvSpPr/>
          <p:nvPr/>
        </p:nvSpPr>
        <p:spPr>
          <a:xfrm>
            <a:off x="8500655" y="6014244"/>
            <a:ext cx="303284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Continuous model improvement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40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7BAE-D07F-8F47-C16B-648CB9CA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CA38A6E-9FE7-0D7E-5C87-90F7A891DD25}"/>
              </a:ext>
            </a:extLst>
          </p:cNvPr>
          <p:cNvSpPr/>
          <p:nvPr/>
        </p:nvSpPr>
        <p:spPr>
          <a:xfrm>
            <a:off x="5564250" y="594320"/>
            <a:ext cx="6296860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AI Agent Framework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12BB36D-3C23-C9B5-EBAE-E25ED505399E}"/>
              </a:ext>
            </a:extLst>
          </p:cNvPr>
          <p:cNvSpPr/>
          <p:nvPr/>
        </p:nvSpPr>
        <p:spPr>
          <a:xfrm>
            <a:off x="5564250" y="1181001"/>
            <a:ext cx="629686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Emotion detection systems operate as intelligent agents that perceive their environment and respond autonomously: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A68000A-C73D-5FD5-3CED-D809084968A9}"/>
              </a:ext>
            </a:extLst>
          </p:cNvPr>
          <p:cNvSpPr/>
          <p:nvPr/>
        </p:nvSpPr>
        <p:spPr>
          <a:xfrm>
            <a:off x="5564250" y="1680766"/>
            <a:ext cx="6296860" cy="3627636"/>
          </a:xfrm>
          <a:prstGeom prst="roundRect">
            <a:avLst>
              <a:gd name="adj" fmla="val 16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DA33D04-2B90-1F9C-0DA4-7BE6C6E9F561}"/>
              </a:ext>
            </a:extLst>
          </p:cNvPr>
          <p:cNvSpPr/>
          <p:nvPr/>
        </p:nvSpPr>
        <p:spPr>
          <a:xfrm>
            <a:off x="5570600" y="1687116"/>
            <a:ext cx="6284160" cy="827286"/>
          </a:xfrm>
          <a:custGeom>
            <a:avLst/>
            <a:gdLst/>
            <a:ahLst/>
            <a:cxnLst/>
            <a:rect l="l" t="t" r="r" b="b"/>
            <a:pathLst>
              <a:path w="6284160" h="827286">
                <a:moveTo>
                  <a:pt x="48584" y="0"/>
                </a:moveTo>
                <a:lnTo>
                  <a:pt x="6235576" y="0"/>
                </a:lnTo>
                <a:arcTo wR="48584" hR="48585" stAng="16200000" swAng="5400000"/>
                <a:lnTo>
                  <a:pt x="6284160" y="827286"/>
                </a:lnTo>
                <a:lnTo>
                  <a:pt x="0" y="827286"/>
                </a:lnTo>
                <a:lnTo>
                  <a:pt x="0" y="48585"/>
                </a:lnTo>
                <a:arcTo wR="48584" hR="48585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FD31A31-FCF7-2182-C070-C88CC60A4038}"/>
              </a:ext>
            </a:extLst>
          </p:cNvPr>
          <p:cNvSpPr/>
          <p:nvPr/>
        </p:nvSpPr>
        <p:spPr>
          <a:xfrm>
            <a:off x="5672495" y="1789013"/>
            <a:ext cx="608037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Perceive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98B3DE9-A94F-34C4-37E3-A2FB01F1C9DF}"/>
              </a:ext>
            </a:extLst>
          </p:cNvPr>
          <p:cNvSpPr/>
          <p:nvPr/>
        </p:nvSpPr>
        <p:spPr>
          <a:xfrm>
            <a:off x="5672495" y="2067024"/>
            <a:ext cx="608037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Camera receives and streams facial information continuously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95DE699-5DC0-218D-52D9-F8617B43A3CF}"/>
              </a:ext>
            </a:extLst>
          </p:cNvPr>
          <p:cNvSpPr/>
          <p:nvPr/>
        </p:nvSpPr>
        <p:spPr>
          <a:xfrm>
            <a:off x="5570600" y="2514402"/>
            <a:ext cx="6284160" cy="980182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A481417-AE84-7F56-D13E-102C2E601C3A}"/>
              </a:ext>
            </a:extLst>
          </p:cNvPr>
          <p:cNvSpPr/>
          <p:nvPr/>
        </p:nvSpPr>
        <p:spPr>
          <a:xfrm>
            <a:off x="5570600" y="2514402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99B3477-B925-A9D5-9304-4CE02426D80B}"/>
              </a:ext>
            </a:extLst>
          </p:cNvPr>
          <p:cNvSpPr/>
          <p:nvPr/>
        </p:nvSpPr>
        <p:spPr>
          <a:xfrm>
            <a:off x="8539151" y="2350443"/>
            <a:ext cx="346959" cy="346968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>
            <a:extLst>
              <a:ext uri="{FF2B5EF4-FFF2-40B4-BE49-F238E27FC236}">
                <a16:creationId xmlns:a16="http://schemas.microsoft.com/office/drawing/2014/main" id="{27D434C1-4179-510F-069A-7F4B337552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25866" y="2437160"/>
            <a:ext cx="173430" cy="173434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B4B9CCE8-E529-A8FA-80FA-30E60BA35FE2}"/>
              </a:ext>
            </a:extLst>
          </p:cNvPr>
          <p:cNvSpPr/>
          <p:nvPr/>
        </p:nvSpPr>
        <p:spPr>
          <a:xfrm>
            <a:off x="5672495" y="2769195"/>
            <a:ext cx="608037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Analyze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96E59B7-ECA8-62AA-472E-D967AE32384A}"/>
              </a:ext>
            </a:extLst>
          </p:cNvPr>
          <p:cNvSpPr/>
          <p:nvPr/>
        </p:nvSpPr>
        <p:spPr>
          <a:xfrm>
            <a:off x="5672495" y="3047206"/>
            <a:ext cx="608037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AI processes facial features and compares them to learned emotion patterns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350175B-A476-695A-1990-AA804CD0D876}"/>
              </a:ext>
            </a:extLst>
          </p:cNvPr>
          <p:cNvSpPr/>
          <p:nvPr/>
        </p:nvSpPr>
        <p:spPr>
          <a:xfrm>
            <a:off x="5570600" y="3494584"/>
            <a:ext cx="6284160" cy="980182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FC1E2E6-EF89-3B0C-48DC-3F7AA66C2F7F}"/>
              </a:ext>
            </a:extLst>
          </p:cNvPr>
          <p:cNvSpPr/>
          <p:nvPr/>
        </p:nvSpPr>
        <p:spPr>
          <a:xfrm>
            <a:off x="5570600" y="3494584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E3B148F-3D7E-BC5E-DA0E-C55BE3026D6D}"/>
              </a:ext>
            </a:extLst>
          </p:cNvPr>
          <p:cNvSpPr/>
          <p:nvPr/>
        </p:nvSpPr>
        <p:spPr>
          <a:xfrm>
            <a:off x="8539151" y="3330625"/>
            <a:ext cx="346959" cy="346968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2">
            <a:extLst>
              <a:ext uri="{FF2B5EF4-FFF2-40B4-BE49-F238E27FC236}">
                <a16:creationId xmlns:a16="http://schemas.microsoft.com/office/drawing/2014/main" id="{99F73FEE-4939-D6FF-C45D-52283F0FCC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5866" y="3417342"/>
            <a:ext cx="173430" cy="173434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823D898D-2241-7315-E8D1-BEBA7AEE9B04}"/>
              </a:ext>
            </a:extLst>
          </p:cNvPr>
          <p:cNvSpPr/>
          <p:nvPr/>
        </p:nvSpPr>
        <p:spPr>
          <a:xfrm>
            <a:off x="5672495" y="3749377"/>
            <a:ext cx="608037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Decide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204AAB79-5E32-CF9D-A692-8C1B5DB565C8}"/>
              </a:ext>
            </a:extLst>
          </p:cNvPr>
          <p:cNvSpPr/>
          <p:nvPr/>
        </p:nvSpPr>
        <p:spPr>
          <a:xfrm>
            <a:off x="5672495" y="4027388"/>
            <a:ext cx="608037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Model determines the most likely emotion with a confidence score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F62FE100-1273-629E-BE5B-2E8D0C045FCA}"/>
              </a:ext>
            </a:extLst>
          </p:cNvPr>
          <p:cNvSpPr/>
          <p:nvPr/>
        </p:nvSpPr>
        <p:spPr>
          <a:xfrm>
            <a:off x="5570600" y="4474766"/>
            <a:ext cx="6284160" cy="827286"/>
          </a:xfrm>
          <a:custGeom>
            <a:avLst/>
            <a:gdLst/>
            <a:ahLst/>
            <a:cxnLst/>
            <a:rect l="l" t="t" r="r" b="b"/>
            <a:pathLst>
              <a:path w="6284160" h="827286">
                <a:moveTo>
                  <a:pt x="0" y="0"/>
                </a:moveTo>
                <a:lnTo>
                  <a:pt x="6284160" y="0"/>
                </a:lnTo>
                <a:lnTo>
                  <a:pt x="6284160" y="778701"/>
                </a:lnTo>
                <a:arcTo wR="48584" hR="48585" stAng="0" swAng="5400000"/>
                <a:lnTo>
                  <a:pt x="48584" y="827286"/>
                </a:lnTo>
                <a:arcTo wR="48584" hR="48585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E267E07B-36A3-ED22-F698-F1E38B38CC15}"/>
              </a:ext>
            </a:extLst>
          </p:cNvPr>
          <p:cNvSpPr/>
          <p:nvPr/>
        </p:nvSpPr>
        <p:spPr>
          <a:xfrm>
            <a:off x="5570600" y="447476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6B1277AA-95E6-D687-2AEE-1074994316D8}"/>
              </a:ext>
            </a:extLst>
          </p:cNvPr>
          <p:cNvSpPr/>
          <p:nvPr/>
        </p:nvSpPr>
        <p:spPr>
          <a:xfrm>
            <a:off x="8539151" y="4310807"/>
            <a:ext cx="346959" cy="346968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3">
            <a:extLst>
              <a:ext uri="{FF2B5EF4-FFF2-40B4-BE49-F238E27FC236}">
                <a16:creationId xmlns:a16="http://schemas.microsoft.com/office/drawing/2014/main" id="{F4C9FF04-E521-BC84-E483-B97CE6A5CF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5866" y="4397524"/>
            <a:ext cx="173430" cy="173434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15C21767-2E89-A2B2-5846-C8975A17AAC1}"/>
              </a:ext>
            </a:extLst>
          </p:cNvPr>
          <p:cNvSpPr/>
          <p:nvPr/>
        </p:nvSpPr>
        <p:spPr>
          <a:xfrm>
            <a:off x="5672495" y="4729559"/>
            <a:ext cx="608037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Act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6B779349-D4F6-5959-42AD-0D7ECE7EB656}"/>
              </a:ext>
            </a:extLst>
          </p:cNvPr>
          <p:cNvSpPr/>
          <p:nvPr/>
        </p:nvSpPr>
        <p:spPr>
          <a:xfrm>
            <a:off x="5672495" y="5007570"/>
            <a:ext cx="608037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System responds — adapting content, triggering alerts, or logging data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6839D0B7-81B6-1F81-15F0-C22D07ED8213}"/>
              </a:ext>
            </a:extLst>
          </p:cNvPr>
          <p:cNvSpPr/>
          <p:nvPr/>
        </p:nvSpPr>
        <p:spPr>
          <a:xfrm>
            <a:off x="5564250" y="5422999"/>
            <a:ext cx="6296860" cy="840581"/>
          </a:xfrm>
          <a:prstGeom prst="roundRect">
            <a:avLst>
              <a:gd name="adj" fmla="val 693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4">
            <a:extLst>
              <a:ext uri="{FF2B5EF4-FFF2-40B4-BE49-F238E27FC236}">
                <a16:creationId xmlns:a16="http://schemas.microsoft.com/office/drawing/2014/main" id="{D59A905F-9183-02B7-6E29-A456EB78EC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054" y="5571331"/>
            <a:ext cx="173430" cy="138807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5B513AE1-B877-FC49-861D-4C35CA963145}"/>
              </a:ext>
            </a:extLst>
          </p:cNvPr>
          <p:cNvSpPr/>
          <p:nvPr/>
        </p:nvSpPr>
        <p:spPr>
          <a:xfrm>
            <a:off x="6015288" y="5559524"/>
            <a:ext cx="5707019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Real-World Example:</a:t>
            </a: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An adaptive learning platform detects a student's confusion or disengagement and automatically pauses the lesson, offers a simpler explanation, or suggests a break — all without human intervention.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AI systems claiming to 'read' emotions pose discrimination risks | AI (artificial  intelligence) | The Guardian">
            <a:extLst>
              <a:ext uri="{FF2B5EF4-FFF2-40B4-BE49-F238E27FC236}">
                <a16:creationId xmlns:a16="http://schemas.microsoft.com/office/drawing/2014/main" id="{1A44130C-80DA-E2BA-C184-4942728275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867" y="1938407"/>
            <a:ext cx="4579955" cy="343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655BC-424A-B37C-6729-5471012E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6B294B-7F40-AF7E-BE0B-5CA52DA53B78}"/>
              </a:ext>
            </a:extLst>
          </p:cNvPr>
          <p:cNvSpPr/>
          <p:nvPr/>
        </p:nvSpPr>
        <p:spPr>
          <a:xfrm>
            <a:off x="661627" y="5563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Real-Time Applications Across Industries</a:t>
            </a:r>
            <a:endParaRPr lang="en-US" sz="3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B52A192-CDEC-9E84-4A38-54E55478A700}"/>
              </a:ext>
            </a:extLst>
          </p:cNvPr>
          <p:cNvSpPr/>
          <p:nvPr/>
        </p:nvSpPr>
        <p:spPr>
          <a:xfrm>
            <a:off x="661627" y="2468711"/>
            <a:ext cx="25815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🎓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Education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741F414-9BB1-04B2-9FC0-A30E1C5ECD6A}"/>
              </a:ext>
            </a:extLst>
          </p:cNvPr>
          <p:cNvSpPr/>
          <p:nvPr/>
        </p:nvSpPr>
        <p:spPr>
          <a:xfrm>
            <a:off x="661627" y="2813992"/>
            <a:ext cx="258150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Monitor learner engagement, identify confusion, and adapt teaching pace in real-time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C574A4A-9E9C-AA0A-57F2-4A167B25380E}"/>
              </a:ext>
            </a:extLst>
          </p:cNvPr>
          <p:cNvSpPr/>
          <p:nvPr/>
        </p:nvSpPr>
        <p:spPr>
          <a:xfrm>
            <a:off x="3424006" y="2468711"/>
            <a:ext cx="258150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🤖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Human–Computer Interaction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94E5C4A-672A-4AB0-F530-8A441ECAD49D}"/>
              </a:ext>
            </a:extLst>
          </p:cNvPr>
          <p:cNvSpPr/>
          <p:nvPr/>
        </p:nvSpPr>
        <p:spPr>
          <a:xfrm>
            <a:off x="3424006" y="3072457"/>
            <a:ext cx="258150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Enable AI assistants to respond to user frustration or confusion with empathy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57800BA-DB4B-F37F-8AA4-38DBF24FDC19}"/>
              </a:ext>
            </a:extLst>
          </p:cNvPr>
          <p:cNvSpPr/>
          <p:nvPr/>
        </p:nvSpPr>
        <p:spPr>
          <a:xfrm>
            <a:off x="6186386" y="2468711"/>
            <a:ext cx="25815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🛍️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Retail &amp; Marketing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7C93F86-45DB-FDCC-C90D-2B20B3F01F86}"/>
              </a:ext>
            </a:extLst>
          </p:cNvPr>
          <p:cNvSpPr/>
          <p:nvPr/>
        </p:nvSpPr>
        <p:spPr>
          <a:xfrm>
            <a:off x="6186386" y="2813992"/>
            <a:ext cx="258150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Measure authentic customer reactions to products, packaging, or advertisements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3737561-5854-99C1-A3D2-7B6AF3425720}"/>
              </a:ext>
            </a:extLst>
          </p:cNvPr>
          <p:cNvSpPr/>
          <p:nvPr/>
        </p:nvSpPr>
        <p:spPr>
          <a:xfrm>
            <a:off x="8948765" y="2468711"/>
            <a:ext cx="258160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🎮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Gaming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F66885B3-C753-98B9-7EBA-5AFFAC754396}"/>
              </a:ext>
            </a:extLst>
          </p:cNvPr>
          <p:cNvSpPr/>
          <p:nvPr/>
        </p:nvSpPr>
        <p:spPr>
          <a:xfrm>
            <a:off x="8948765" y="2813992"/>
            <a:ext cx="258160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Adjust difficulty, pacing, or narrative based on player emotional state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F174CD6-14D6-79E9-0906-3F682FF8F5C5}"/>
              </a:ext>
            </a:extLst>
          </p:cNvPr>
          <p:cNvSpPr/>
          <p:nvPr/>
        </p:nvSpPr>
        <p:spPr>
          <a:xfrm>
            <a:off x="661627" y="5212208"/>
            <a:ext cx="25815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🚗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Driver Monitoring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D3234F8A-090E-5E1F-8A7F-6B6F62CE9353}"/>
              </a:ext>
            </a:extLst>
          </p:cNvPr>
          <p:cNvSpPr/>
          <p:nvPr/>
        </p:nvSpPr>
        <p:spPr>
          <a:xfrm>
            <a:off x="661627" y="5557490"/>
            <a:ext cx="2581508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Detect distraction, drowsiness, or stress to prevent accidents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362532F5-803D-D1C6-E9A8-E2D8FA762731}"/>
              </a:ext>
            </a:extLst>
          </p:cNvPr>
          <p:cNvSpPr/>
          <p:nvPr/>
        </p:nvSpPr>
        <p:spPr>
          <a:xfrm>
            <a:off x="3424006" y="5212208"/>
            <a:ext cx="25815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🏥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Healthcare &amp; Research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D524AF3-D4DA-70E6-3EA5-F4B964CC3AFC}"/>
              </a:ext>
            </a:extLst>
          </p:cNvPr>
          <p:cNvSpPr/>
          <p:nvPr/>
        </p:nvSpPr>
        <p:spPr>
          <a:xfrm>
            <a:off x="3424006" y="5557490"/>
            <a:ext cx="258150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Support clinical analysis of emotional and behavioral responses to treatment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Technology the way forward for Indian education | Hindustan Times">
            <a:extLst>
              <a:ext uri="{FF2B5EF4-FFF2-40B4-BE49-F238E27FC236}">
                <a16:creationId xmlns:a16="http://schemas.microsoft.com/office/drawing/2014/main" id="{8A2D21DB-CB32-DA92-3D1B-44DBB9B03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53" y="1228422"/>
            <a:ext cx="1446623" cy="1084967"/>
          </a:xfrm>
          <a:prstGeom prst="rect">
            <a:avLst/>
          </a:prstGeom>
        </p:spPr>
      </p:pic>
      <p:pic>
        <p:nvPicPr>
          <p:cNvPr id="22" name="Picture 21" descr="Human-Computer Interaction: Enhancing UX for Modern Needs">
            <a:extLst>
              <a:ext uri="{FF2B5EF4-FFF2-40B4-BE49-F238E27FC236}">
                <a16:creationId xmlns:a16="http://schemas.microsoft.com/office/drawing/2014/main" id="{AE8E1EFC-A23E-81E3-AEBC-93D055414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684" y="1280794"/>
            <a:ext cx="1653997" cy="925313"/>
          </a:xfrm>
          <a:prstGeom prst="rect">
            <a:avLst/>
          </a:prstGeom>
        </p:spPr>
      </p:pic>
      <p:pic>
        <p:nvPicPr>
          <p:cNvPr id="23" name="Picture 22" descr="Retail Marketing Execution at Scale: Strategy &amp; Growth in India | PPMS">
            <a:extLst>
              <a:ext uri="{FF2B5EF4-FFF2-40B4-BE49-F238E27FC236}">
                <a16:creationId xmlns:a16="http://schemas.microsoft.com/office/drawing/2014/main" id="{0BE9BA91-756C-9877-3F26-F8627AAD7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724" y="1228422"/>
            <a:ext cx="1653998" cy="930373"/>
          </a:xfrm>
          <a:prstGeom prst="rect">
            <a:avLst/>
          </a:prstGeom>
        </p:spPr>
      </p:pic>
      <p:pic>
        <p:nvPicPr>
          <p:cNvPr id="24" name="Picture 23" descr="Gaming vs. Gaming Services: What's the Difference?">
            <a:extLst>
              <a:ext uri="{FF2B5EF4-FFF2-40B4-BE49-F238E27FC236}">
                <a16:creationId xmlns:a16="http://schemas.microsoft.com/office/drawing/2014/main" id="{C2975046-6236-1BA5-0368-81BCB1ACE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V="1">
            <a:off x="9132936" y="1275733"/>
            <a:ext cx="1660919" cy="930374"/>
          </a:xfrm>
          <a:prstGeom prst="rect">
            <a:avLst/>
          </a:prstGeom>
        </p:spPr>
      </p:pic>
      <p:pic>
        <p:nvPicPr>
          <p:cNvPr id="26" name="Picture 25" descr="Driver Monitoring Systems - Navigating the complexities of next-generation  automotive safety - HORIBA MIRA">
            <a:extLst>
              <a:ext uri="{FF2B5EF4-FFF2-40B4-BE49-F238E27FC236}">
                <a16:creationId xmlns:a16="http://schemas.microsoft.com/office/drawing/2014/main" id="{7DD953FD-C332-4427-D014-C51C01C3B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053" y="4066918"/>
            <a:ext cx="1446623" cy="964415"/>
          </a:xfrm>
          <a:prstGeom prst="rect">
            <a:avLst/>
          </a:prstGeom>
        </p:spPr>
      </p:pic>
      <p:pic>
        <p:nvPicPr>
          <p:cNvPr id="27" name="Picture 26" descr="Why Medical Research is Important - Hennepin Healthcare Research Institute">
            <a:extLst>
              <a:ext uri="{FF2B5EF4-FFF2-40B4-BE49-F238E27FC236}">
                <a16:creationId xmlns:a16="http://schemas.microsoft.com/office/drawing/2014/main" id="{EA295E2B-9D51-E372-0E11-5A7A4EA7F9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4059" y="4032195"/>
            <a:ext cx="1446622" cy="96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41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98AAB-A510-2600-5603-38477DC67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C7B1F7-2311-FAEC-1DA2-92281FF44B96}"/>
              </a:ext>
            </a:extLst>
          </p:cNvPr>
          <p:cNvSpPr/>
          <p:nvPr/>
        </p:nvSpPr>
        <p:spPr>
          <a:xfrm>
            <a:off x="658503" y="581273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Benefits of Real-Time Emotion Detection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D038608D-9E06-8115-8828-A58C0BC1D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44846" y="1262013"/>
            <a:ext cx="3588652" cy="99953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E6356799-AB6D-CBF4-CF18-0DB69E1C6C27}"/>
              </a:ext>
            </a:extLst>
          </p:cNvPr>
          <p:cNvSpPr/>
          <p:nvPr/>
        </p:nvSpPr>
        <p:spPr>
          <a:xfrm>
            <a:off x="8175921" y="1416894"/>
            <a:ext cx="3202701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⚡</a:t>
            </a: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Speed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4AA5507-B8F4-D154-0246-BE4E961A504B}"/>
              </a:ext>
            </a:extLst>
          </p:cNvPr>
          <p:cNvSpPr/>
          <p:nvPr/>
        </p:nvSpPr>
        <p:spPr>
          <a:xfrm>
            <a:off x="8175921" y="1733203"/>
            <a:ext cx="3202701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Instant analysis without manual observation or delays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>
            <a:extLst>
              <a:ext uri="{FF2B5EF4-FFF2-40B4-BE49-F238E27FC236}">
                <a16:creationId xmlns:a16="http://schemas.microsoft.com/office/drawing/2014/main" id="{DC2D9AE7-838E-7B1B-8B69-07A4730CC8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44846" y="2359174"/>
            <a:ext cx="3588652" cy="99953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7CA925D1-7CAF-3891-A942-B265251B5A1C}"/>
              </a:ext>
            </a:extLst>
          </p:cNvPr>
          <p:cNvSpPr/>
          <p:nvPr/>
        </p:nvSpPr>
        <p:spPr>
          <a:xfrm>
            <a:off x="8175921" y="2514055"/>
            <a:ext cx="3202701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🎯</a:t>
            </a: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Personalization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E1A1CFC-3999-1EC1-E59E-167CF137B1C9}"/>
              </a:ext>
            </a:extLst>
          </p:cNvPr>
          <p:cNvSpPr/>
          <p:nvPr/>
        </p:nvSpPr>
        <p:spPr>
          <a:xfrm>
            <a:off x="8175921" y="2830364"/>
            <a:ext cx="3202701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Systems adapt interactions based on individual emotional state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>
            <a:extLst>
              <a:ext uri="{FF2B5EF4-FFF2-40B4-BE49-F238E27FC236}">
                <a16:creationId xmlns:a16="http://schemas.microsoft.com/office/drawing/2014/main" id="{DA08BD9E-FA0C-2070-C3A4-DAE72EAD2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44846" y="3456335"/>
            <a:ext cx="3588652" cy="99953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3D7895F0-BFDB-45B9-1D06-36053038D3B2}"/>
              </a:ext>
            </a:extLst>
          </p:cNvPr>
          <p:cNvSpPr/>
          <p:nvPr/>
        </p:nvSpPr>
        <p:spPr>
          <a:xfrm>
            <a:off x="8175921" y="3611216"/>
            <a:ext cx="3202701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📈</a:t>
            </a: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Scalability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01E4712-3CEC-850D-AF1D-4060385FB222}"/>
              </a:ext>
            </a:extLst>
          </p:cNvPr>
          <p:cNvSpPr/>
          <p:nvPr/>
        </p:nvSpPr>
        <p:spPr>
          <a:xfrm>
            <a:off x="8175921" y="3927525"/>
            <a:ext cx="3202701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One system can monitor multiple people simultaneously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>
            <a:extLst>
              <a:ext uri="{FF2B5EF4-FFF2-40B4-BE49-F238E27FC236}">
                <a16:creationId xmlns:a16="http://schemas.microsoft.com/office/drawing/2014/main" id="{95189E05-F7D4-8B16-AD6E-41B73DA23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4846" y="4553496"/>
            <a:ext cx="3588652" cy="812800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F8173053-5173-FF99-1BB6-2CA9FA7CB492}"/>
              </a:ext>
            </a:extLst>
          </p:cNvPr>
          <p:cNvSpPr/>
          <p:nvPr/>
        </p:nvSpPr>
        <p:spPr>
          <a:xfrm>
            <a:off x="8175921" y="4708377"/>
            <a:ext cx="3202701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⚖️</a:t>
            </a: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Objectivity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314F1A5-AC8F-AC14-F4A7-622090503306}"/>
              </a:ext>
            </a:extLst>
          </p:cNvPr>
          <p:cNvSpPr/>
          <p:nvPr/>
        </p:nvSpPr>
        <p:spPr>
          <a:xfrm>
            <a:off x="8175921" y="5024686"/>
            <a:ext cx="320270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Reduces bias from subjective human judgment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5">
            <a:extLst>
              <a:ext uri="{FF2B5EF4-FFF2-40B4-BE49-F238E27FC236}">
                <a16:creationId xmlns:a16="http://schemas.microsoft.com/office/drawing/2014/main" id="{3345C12E-ED00-1E87-5829-BD189C84A8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4846" y="5463927"/>
            <a:ext cx="3588652" cy="812800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940569D9-3A10-87CD-2E1F-53713620A8C4}"/>
              </a:ext>
            </a:extLst>
          </p:cNvPr>
          <p:cNvSpPr/>
          <p:nvPr/>
        </p:nvSpPr>
        <p:spPr>
          <a:xfrm>
            <a:off x="8175921" y="5618808"/>
            <a:ext cx="3202701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🔔</a:t>
            </a: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Actionability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3E633E6-8113-F1C8-88AC-4B757B7C6F51}"/>
              </a:ext>
            </a:extLst>
          </p:cNvPr>
          <p:cNvSpPr/>
          <p:nvPr/>
        </p:nvSpPr>
        <p:spPr>
          <a:xfrm>
            <a:off x="8175921" y="5935117"/>
            <a:ext cx="320270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Enables immediate, data-driven responses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9E9B8B-3E99-2332-A4BA-ADA82C3B0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51" y="1526233"/>
            <a:ext cx="6583471" cy="446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4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F22A3-19B0-07D8-CDE6-DD3BFD7B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0378B8-38E6-EEC8-6028-E2C4E53915DB}"/>
              </a:ext>
            </a:extLst>
          </p:cNvPr>
          <p:cNvSpPr/>
          <p:nvPr/>
        </p:nvSpPr>
        <p:spPr>
          <a:xfrm>
            <a:off x="661627" y="6492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Critical Challenges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FDFA367-B738-3E4D-5834-8604FE58AC26}"/>
              </a:ext>
            </a:extLst>
          </p:cNvPr>
          <p:cNvSpPr/>
          <p:nvPr/>
        </p:nvSpPr>
        <p:spPr>
          <a:xfrm>
            <a:off x="661627" y="1617960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B56695-191C-B8F0-53D2-FA4A904222DE}"/>
              </a:ext>
            </a:extLst>
          </p:cNvPr>
          <p:cNvSpPr/>
          <p:nvPr/>
        </p:nvSpPr>
        <p:spPr>
          <a:xfrm>
            <a:off x="856984" y="181332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Ambiguity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18FDE0-F0D3-718A-0723-B8F219515E13}"/>
              </a:ext>
            </a:extLst>
          </p:cNvPr>
          <p:cNvSpPr/>
          <p:nvPr/>
        </p:nvSpPr>
        <p:spPr>
          <a:xfrm>
            <a:off x="856984" y="2222004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The same expression can mean different things across cultures and individuals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21510DC-11E4-DC6B-DAA5-D9DDE65F201F}"/>
              </a:ext>
            </a:extLst>
          </p:cNvPr>
          <p:cNvSpPr/>
          <p:nvPr/>
        </p:nvSpPr>
        <p:spPr>
          <a:xfrm>
            <a:off x="6190453" y="1617960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5AB92F2-E85B-715F-4CFB-F113D8B1A771}"/>
              </a:ext>
            </a:extLst>
          </p:cNvPr>
          <p:cNvSpPr/>
          <p:nvPr/>
        </p:nvSpPr>
        <p:spPr>
          <a:xfrm>
            <a:off x="6385810" y="1813322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Environmental Factors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93E10B2-72AC-A98F-74FF-683CA0A3C437}"/>
              </a:ext>
            </a:extLst>
          </p:cNvPr>
          <p:cNvSpPr/>
          <p:nvPr/>
        </p:nvSpPr>
        <p:spPr>
          <a:xfrm>
            <a:off x="6385810" y="2222004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Lighting, camera angle, and image quality significantly impact accuracy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98556CE-CBC3-18C8-6203-1AA3C977207F}"/>
              </a:ext>
            </a:extLst>
          </p:cNvPr>
          <p:cNvSpPr/>
          <p:nvPr/>
        </p:nvSpPr>
        <p:spPr>
          <a:xfrm>
            <a:off x="661627" y="3211215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A74F82C-428A-69F1-4BCF-5637CBD8FA8F}"/>
              </a:ext>
            </a:extLst>
          </p:cNvPr>
          <p:cNvSpPr/>
          <p:nvPr/>
        </p:nvSpPr>
        <p:spPr>
          <a:xfrm>
            <a:off x="856984" y="340657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Individual Differences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81C79AF-5CE5-1A45-D858-93B00B629FE8}"/>
              </a:ext>
            </a:extLst>
          </p:cNvPr>
          <p:cNvSpPr/>
          <p:nvPr/>
        </p:nvSpPr>
        <p:spPr>
          <a:xfrm>
            <a:off x="856984" y="3815259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People express emotions differently; some are naturally more expressive than others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2155ACD-9ABB-D2FC-2FD3-49B8B42E0E57}"/>
              </a:ext>
            </a:extLst>
          </p:cNvPr>
          <p:cNvSpPr/>
          <p:nvPr/>
        </p:nvSpPr>
        <p:spPr>
          <a:xfrm>
            <a:off x="6190453" y="3211215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6EEE019-A371-39A9-3EBE-0A18411C1693}"/>
              </a:ext>
            </a:extLst>
          </p:cNvPr>
          <p:cNvSpPr/>
          <p:nvPr/>
        </p:nvSpPr>
        <p:spPr>
          <a:xfrm>
            <a:off x="6385810" y="340657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Privacy Concerns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C19AB1-AC6A-290E-2573-B55227A7C662}"/>
              </a:ext>
            </a:extLst>
          </p:cNvPr>
          <p:cNvSpPr/>
          <p:nvPr/>
        </p:nvSpPr>
        <p:spPr>
          <a:xfrm>
            <a:off x="6385810" y="3815259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Continuous facial monitoring raises ethical questions about consent and data protection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A5A40CB-395B-4CEF-22AD-9332217626FB}"/>
              </a:ext>
            </a:extLst>
          </p:cNvPr>
          <p:cNvSpPr/>
          <p:nvPr/>
        </p:nvSpPr>
        <p:spPr>
          <a:xfrm>
            <a:off x="661627" y="4804470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0E15DDB-FA29-955F-195F-4869509205D4}"/>
              </a:ext>
            </a:extLst>
          </p:cNvPr>
          <p:cNvSpPr/>
          <p:nvPr/>
        </p:nvSpPr>
        <p:spPr>
          <a:xfrm>
            <a:off x="856984" y="499983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Model Limitations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E451A64-6455-A7EB-6DC1-210CB00D9C96}"/>
              </a:ext>
            </a:extLst>
          </p:cNvPr>
          <p:cNvSpPr/>
          <p:nvPr/>
        </p:nvSpPr>
        <p:spPr>
          <a:xfrm>
            <a:off x="856984" y="540851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AI predictions are probabilistic — false positives and false negatives occur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D383C84-7CC7-5E29-8372-1AE20811C87F}"/>
              </a:ext>
            </a:extLst>
          </p:cNvPr>
          <p:cNvSpPr/>
          <p:nvPr/>
        </p:nvSpPr>
        <p:spPr>
          <a:xfrm>
            <a:off x="6190453" y="4804470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9908415-895A-6D4B-99C8-B4CA2DC4887A}"/>
              </a:ext>
            </a:extLst>
          </p:cNvPr>
          <p:cNvSpPr/>
          <p:nvPr/>
        </p:nvSpPr>
        <p:spPr>
          <a:xfrm>
            <a:off x="6385810" y="499983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Context Blindness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9E17F95-AB05-8D89-D6EA-40CF864449DC}"/>
              </a:ext>
            </a:extLst>
          </p:cNvPr>
          <p:cNvSpPr/>
          <p:nvPr/>
        </p:nvSpPr>
        <p:spPr>
          <a:xfrm>
            <a:off x="6385810" y="540851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The system sees facial expressions but not the full context of what caused them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97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3022-6E60-1F02-E3EE-B5C1444A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B34930-1B52-615E-F713-DD6722E665D7}"/>
              </a:ext>
            </a:extLst>
          </p:cNvPr>
          <p:cNvSpPr/>
          <p:nvPr/>
        </p:nvSpPr>
        <p:spPr>
          <a:xfrm>
            <a:off x="443947" y="571649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Future of Emotion Detection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DC18C9-F01C-38AB-FC38-0D4CE1AEA48C}"/>
              </a:ext>
            </a:extLst>
          </p:cNvPr>
          <p:cNvSpPr/>
          <p:nvPr/>
        </p:nvSpPr>
        <p:spPr>
          <a:xfrm>
            <a:off x="443947" y="1537742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210926-7091-DBA3-3C4B-FCAB896967BD}"/>
              </a:ext>
            </a:extLst>
          </p:cNvPr>
          <p:cNvSpPr/>
          <p:nvPr/>
        </p:nvSpPr>
        <p:spPr>
          <a:xfrm>
            <a:off x="996581" y="1597571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Multimodal Systems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9AA545-6695-3BC3-F615-3F4050589164}"/>
              </a:ext>
            </a:extLst>
          </p:cNvPr>
          <p:cNvSpPr/>
          <p:nvPr/>
        </p:nvSpPr>
        <p:spPr>
          <a:xfrm>
            <a:off x="996581" y="2030363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Combine facial expressions + voice tone + text sentiment for richer, more accurate emotion understanding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E66141-767B-8BC2-9603-5002FD04191A}"/>
              </a:ext>
            </a:extLst>
          </p:cNvPr>
          <p:cNvSpPr/>
          <p:nvPr/>
        </p:nvSpPr>
        <p:spPr>
          <a:xfrm>
            <a:off x="443947" y="2887216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63495D8-E2A3-F562-2272-B1EE403B0570}"/>
              </a:ext>
            </a:extLst>
          </p:cNvPr>
          <p:cNvSpPr/>
          <p:nvPr/>
        </p:nvSpPr>
        <p:spPr>
          <a:xfrm>
            <a:off x="996581" y="2947045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Advanced Personalization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F1FF16C-ED2E-5AA0-0663-5441FB073E4E}"/>
              </a:ext>
            </a:extLst>
          </p:cNvPr>
          <p:cNvSpPr/>
          <p:nvPr/>
        </p:nvSpPr>
        <p:spPr>
          <a:xfrm>
            <a:off x="996581" y="3379837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AI agents that learn individual emotional baselines and adapt over time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2EDCC14-9D4D-EA2E-C0A8-91F73CE6469A}"/>
              </a:ext>
            </a:extLst>
          </p:cNvPr>
          <p:cNvSpPr/>
          <p:nvPr/>
        </p:nvSpPr>
        <p:spPr>
          <a:xfrm>
            <a:off x="443947" y="4236691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F0F834-B529-F564-A242-A3C807384456}"/>
              </a:ext>
            </a:extLst>
          </p:cNvPr>
          <p:cNvSpPr/>
          <p:nvPr/>
        </p:nvSpPr>
        <p:spPr>
          <a:xfrm>
            <a:off x="996581" y="4296520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Improved Accuracy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1E0B0E8-829F-7E19-8083-02C1A1568559}"/>
              </a:ext>
            </a:extLst>
          </p:cNvPr>
          <p:cNvSpPr/>
          <p:nvPr/>
        </p:nvSpPr>
        <p:spPr>
          <a:xfrm>
            <a:off x="996581" y="4729312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Better models trained on diverse datasets, working reliably in real-world conditions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204CE18-85AB-3E34-7121-9693D4B2C229}"/>
              </a:ext>
            </a:extLst>
          </p:cNvPr>
          <p:cNvSpPr/>
          <p:nvPr/>
        </p:nvSpPr>
        <p:spPr>
          <a:xfrm>
            <a:off x="6097191" y="1537742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753D1C1-CCDB-CD13-E621-31558CBC1021}"/>
              </a:ext>
            </a:extLst>
          </p:cNvPr>
          <p:cNvSpPr/>
          <p:nvPr/>
        </p:nvSpPr>
        <p:spPr>
          <a:xfrm>
            <a:off x="6649825" y="1597571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Emotion-Aware Robots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56B913B-3E91-35EB-7F89-28F1FF1AE27A}"/>
              </a:ext>
            </a:extLst>
          </p:cNvPr>
          <p:cNvSpPr/>
          <p:nvPr/>
        </p:nvSpPr>
        <p:spPr>
          <a:xfrm>
            <a:off x="6649825" y="2030363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Physical robots that respond to human emotions with appropriate gestures and tone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73FA970-063B-2154-F841-B7A75536E9BD}"/>
              </a:ext>
            </a:extLst>
          </p:cNvPr>
          <p:cNvSpPr/>
          <p:nvPr/>
        </p:nvSpPr>
        <p:spPr>
          <a:xfrm>
            <a:off x="6097191" y="2887216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558724-3731-B629-A792-194D8A6BD652}"/>
              </a:ext>
            </a:extLst>
          </p:cNvPr>
          <p:cNvSpPr/>
          <p:nvPr/>
        </p:nvSpPr>
        <p:spPr>
          <a:xfrm>
            <a:off x="6649825" y="2947045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Virtual Assistants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0C42BDF-4DF6-66C2-704C-42E1E9042441}"/>
              </a:ext>
            </a:extLst>
          </p:cNvPr>
          <p:cNvSpPr/>
          <p:nvPr/>
        </p:nvSpPr>
        <p:spPr>
          <a:xfrm>
            <a:off x="6649825" y="3379837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Conversational AI that detects frustration and adjusts communication style in real-time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5C83DEF-2BD6-E2ED-C2DB-D08C139FA40D}"/>
              </a:ext>
            </a:extLst>
          </p:cNvPr>
          <p:cNvSpPr/>
          <p:nvPr/>
        </p:nvSpPr>
        <p:spPr>
          <a:xfrm>
            <a:off x="6097191" y="4236691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B987323-8C22-F6FA-6BD0-93B330993E7F}"/>
              </a:ext>
            </a:extLst>
          </p:cNvPr>
          <p:cNvSpPr/>
          <p:nvPr/>
        </p:nvSpPr>
        <p:spPr>
          <a:xfrm>
            <a:off x="6649825" y="4296520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Ethical Frameworks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957A9DE-6C05-8F51-C58E-49E751D1A3A2}"/>
              </a:ext>
            </a:extLst>
          </p:cNvPr>
          <p:cNvSpPr/>
          <p:nvPr/>
        </p:nvSpPr>
        <p:spPr>
          <a:xfrm>
            <a:off x="6649825" y="4729312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Standardized guidelines for responsible emotion detection and data use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F0EB970-2B1C-32CF-88D8-1497180E537F}"/>
              </a:ext>
            </a:extLst>
          </p:cNvPr>
          <p:cNvSpPr/>
          <p:nvPr/>
        </p:nvSpPr>
        <p:spPr>
          <a:xfrm>
            <a:off x="443947" y="5626249"/>
            <a:ext cx="10868745" cy="660102"/>
          </a:xfrm>
          <a:prstGeom prst="roundRect">
            <a:avLst>
              <a:gd name="adj" fmla="val 11087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0">
            <a:extLst>
              <a:ext uri="{FF2B5EF4-FFF2-40B4-BE49-F238E27FC236}">
                <a16:creationId xmlns:a16="http://schemas.microsoft.com/office/drawing/2014/main" id="{CCF7E72E-9F2F-5F17-A6F7-2FD9A7F46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1" y="5862092"/>
            <a:ext cx="217780" cy="174228"/>
          </a:xfrm>
          <a:prstGeom prst="rect">
            <a:avLst/>
          </a:prstGeom>
        </p:spPr>
      </p:pic>
      <p:sp>
        <p:nvSpPr>
          <p:cNvPr id="23" name="Text 20">
            <a:extLst>
              <a:ext uri="{FF2B5EF4-FFF2-40B4-BE49-F238E27FC236}">
                <a16:creationId xmlns:a16="http://schemas.microsoft.com/office/drawing/2014/main" id="{BA9969EF-4864-EE5A-5206-6B5E0E293E6B}"/>
              </a:ext>
            </a:extLst>
          </p:cNvPr>
          <p:cNvSpPr/>
          <p:nvPr/>
        </p:nvSpPr>
        <p:spPr>
          <a:xfrm>
            <a:off x="1010174" y="5830441"/>
            <a:ext cx="10737879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The next frontier is not just detecting emotions — it's responding to them with intelligence, empathy, and accountability.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97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3AE81C-550E-AF2A-A5F6-B783D6FF1B46}"/>
              </a:ext>
            </a:extLst>
          </p:cNvPr>
          <p:cNvSpPr txBox="1"/>
          <p:nvPr/>
        </p:nvSpPr>
        <p:spPr>
          <a:xfrm>
            <a:off x="2007909" y="2507530"/>
            <a:ext cx="78713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Algerian" panose="04020705040A02060702" pitchFamily="82" charset="0"/>
              </a:rPr>
              <a:t>THANK YOU..!!</a:t>
            </a:r>
            <a:endParaRPr lang="en-IN" sz="88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55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592</Words>
  <Application>Microsoft Office PowerPoint</Application>
  <PresentationFormat>Widescreen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Rajasekar M</dc:creator>
  <cp:lastModifiedBy>Rajasekar M</cp:lastModifiedBy>
  <cp:revision>1</cp:revision>
  <dcterms:created xsi:type="dcterms:W3CDTF">2026-08-29T07:35:51Z</dcterms:created>
  <dcterms:modified xsi:type="dcterms:W3CDTF">2026-08-29T08:30:39Z</dcterms:modified>
</cp:coreProperties>
</file>